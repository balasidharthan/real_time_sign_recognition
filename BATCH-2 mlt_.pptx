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</p:sldMasterIdLst>
  <p:notesMasterIdLst>
    <p:notesMasterId r:id="rId20"/>
  </p:notesMasterIdLst>
  <p:sldIdLst>
    <p:sldId id="273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16967A-573B-49DF-9801-B48A8C939352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3B01FE-6ADC-4483-A5E1-B2501299A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68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d228f52a6_0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g3bd228f52a6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DD1E0DC-2EA6-47DB-A387-3B85294453F4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3pPr>
            <a:lvl4pPr lvl="3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72631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433D719-26D4-4D1A-B657-E081535A9A0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65537C8A-1DA6-43B5-A7E3-175452690B61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3E28841-A5DB-4D8F-9927-8C25990B7FB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&lt;footer&gt;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dt" idx="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&lt;date/time&gt;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38160" indent="0" algn="r">
              <a:lnSpc>
                <a:spcPct val="103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78787"/>
                </a:solidFill>
                <a:uFillTx/>
                <a:latin typeface="Calibri"/>
                <a:ea typeface="Calibri"/>
              </a:defRPr>
            </a:lvl1pPr>
          </a:lstStyle>
          <a:p>
            <a:pPr marL="38160" indent="0" algn="r">
              <a:lnSpc>
                <a:spcPct val="103000"/>
              </a:lnSpc>
              <a:buNone/>
              <a:tabLst>
                <a:tab pos="0" algn="l"/>
              </a:tabLst>
            </a:pPr>
            <a:fld id="{72267254-2168-4DDA-9205-79CA7647ACFC}" type="slidenum">
              <a:rPr lang="en-US" sz="1200" b="0" u="none" strike="noStrike">
                <a:solidFill>
                  <a:srgbClr val="878787"/>
                </a:solidFill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Double-tap to edit the title text format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Double-tap to edit the outline text format</a:t>
            </a:r>
          </a:p>
          <a:p>
            <a:pPr marL="864000" lvl="1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uFillTx/>
                <a:latin typeface="Arial"/>
              </a:rPr>
              <a:t>Double-tap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Double-tap to edit the outline text format</a:t>
            </a:r>
          </a:p>
          <a:p>
            <a:pPr marL="864000" lvl="1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&lt;date/time&gt;</a:t>
            </a: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&lt;footer&gt;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B1798E3-9B15-4D4A-85E1-C7E0BF520D3A}" type="slidenum">
              <a:rPr lang="en-US" sz="1200" b="0" u="none" strike="noStrike">
                <a:solidFill>
                  <a:srgbClr val="888888"/>
                </a:solidFill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uFillTx/>
                <a:latin typeface="Arial"/>
              </a:rPr>
              <a:t>Double-tap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&lt;date/time&gt;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&lt;footer&gt;</a:t>
            </a:r>
          </a:p>
        </p:txBody>
      </p:sp>
      <p:sp>
        <p:nvSpPr>
          <p:cNvPr id="15" name="PlaceHolder 4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CD661E7-7E9F-46D7-97BA-D16F875106AF}" type="slidenum">
              <a:rPr lang="en-US" sz="1200" b="0" u="none" strike="noStrike">
                <a:solidFill>
                  <a:srgbClr val="888888"/>
                </a:solidFill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Double-tap to edit the outline text format</a:t>
            </a:r>
          </a:p>
          <a:p>
            <a:pPr marL="864000" lvl="1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&lt;date/time&gt;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&lt;footer&gt;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3928A09-2F52-487B-B9E1-41077B01C5B4}" type="slidenum">
              <a:rPr lang="en-US" sz="1200" b="0" u="none" strike="noStrike">
                <a:solidFill>
                  <a:srgbClr val="888888"/>
                </a:solidFill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Double-tap to edit the title text format</a:t>
            </a: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Double-tap to edit the outline text format</a:t>
            </a:r>
          </a:p>
          <a:p>
            <a:pPr marL="864000" lvl="1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ctrTitle"/>
          </p:nvPr>
        </p:nvSpPr>
        <p:spPr>
          <a:xfrm>
            <a:off x="-135348" y="1746689"/>
            <a:ext cx="12492800" cy="102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b" anchorCtr="0">
            <a:noAutofit/>
          </a:bodyPr>
          <a:lstStyle/>
          <a:p>
            <a:pPr>
              <a:lnSpc>
                <a:spcPct val="150000"/>
              </a:lnSpc>
              <a:buClr>
                <a:srgbClr val="002060"/>
              </a:buClr>
              <a:buSzPts val="2000"/>
            </a:pPr>
            <a:r>
              <a:rPr lang="en" sz="24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CSE(ARTIFICIAL INTELLIGENCE AND MACHINE LEARNING)</a:t>
            </a:r>
            <a:endParaRPr sz="2400" b="1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" name="Google Shape;13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062" y="48447"/>
            <a:ext cx="4585391" cy="160618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5"/>
          <p:cNvSpPr txBox="1"/>
          <p:nvPr/>
        </p:nvSpPr>
        <p:spPr>
          <a:xfrm>
            <a:off x="1056452" y="3220303"/>
            <a:ext cx="10109200" cy="7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b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002060"/>
              </a:buClr>
              <a:buSzPts val="2400"/>
            </a:pPr>
            <a:r>
              <a:rPr lang="en" sz="32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- 03</a:t>
            </a:r>
            <a:endParaRPr sz="3200" b="1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250133" y="3955903"/>
            <a:ext cx="8459200" cy="24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r>
              <a:rPr lang="en" sz="28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sz="2800" b="1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240" indent="-720">
              <a:lnSpc>
                <a:spcPct val="100000"/>
              </a:lnSpc>
              <a:tabLst>
                <a:tab pos="0" algn="l"/>
              </a:tabLst>
            </a:pPr>
            <a:r>
              <a:rPr lang="en-US" sz="2800" b="1" dirty="0">
                <a:solidFill>
                  <a:srgbClr val="000000"/>
                </a:solidFill>
                <a:latin typeface="Times New Roman"/>
                <a:ea typeface="Times New Roman"/>
              </a:rPr>
              <a:t>Bairavi D (25038117148221005)</a:t>
            </a:r>
            <a:endParaRPr lang="en-US" sz="2800" dirty="0">
              <a:solidFill>
                <a:srgbClr val="000000"/>
              </a:solidFill>
            </a:endParaRPr>
          </a:p>
          <a:p>
            <a:pPr marL="12240" indent="-720">
              <a:lnSpc>
                <a:spcPct val="100000"/>
              </a:lnSpc>
              <a:tabLst>
                <a:tab pos="0" algn="l"/>
              </a:tabLst>
            </a:pPr>
            <a:r>
              <a:rPr lang="en-US" sz="2800" b="1" dirty="0">
                <a:solidFill>
                  <a:srgbClr val="000000"/>
                </a:solidFill>
                <a:latin typeface="Times New Roman"/>
                <a:ea typeface="Times New Roman"/>
              </a:rPr>
              <a:t>Bala </a:t>
            </a:r>
            <a:r>
              <a:rPr lang="en-US" sz="2800" b="1" dirty="0" err="1">
                <a:solidFill>
                  <a:srgbClr val="000000"/>
                </a:solidFill>
                <a:latin typeface="Times New Roman"/>
                <a:ea typeface="Times New Roman"/>
              </a:rPr>
              <a:t>Sidharthan</a:t>
            </a:r>
            <a:r>
              <a:rPr lang="en-US" sz="2800" b="1" dirty="0">
                <a:solidFill>
                  <a:srgbClr val="000000"/>
                </a:solidFill>
                <a:latin typeface="Times New Roman"/>
                <a:ea typeface="Times New Roman"/>
              </a:rPr>
              <a:t> P (25038117148221006)</a:t>
            </a:r>
            <a:endParaRPr lang="en-US" sz="2800" dirty="0">
              <a:solidFill>
                <a:srgbClr val="000000"/>
              </a:solidFill>
            </a:endParaRPr>
          </a:p>
          <a:p>
            <a:pPr marL="12240" indent="-720">
              <a:lnSpc>
                <a:spcPct val="100000"/>
              </a:lnSpc>
              <a:tabLst>
                <a:tab pos="0" algn="l"/>
              </a:tabLst>
            </a:pPr>
            <a:r>
              <a:rPr lang="en-US" sz="2800" b="1" dirty="0">
                <a:solidFill>
                  <a:srgbClr val="000000"/>
                </a:solidFill>
                <a:latin typeface="Times New Roman"/>
                <a:ea typeface="Times New Roman"/>
              </a:rPr>
              <a:t>Dhanush U (25038117148221007)</a:t>
            </a:r>
            <a:endParaRPr lang="en-US" sz="2800" dirty="0">
              <a:solidFill>
                <a:srgbClr val="000000"/>
              </a:solidFill>
            </a:endParaRPr>
          </a:p>
          <a:p>
            <a:pPr marL="12240" indent="-720">
              <a:lnSpc>
                <a:spcPct val="100000"/>
              </a:lnSpc>
              <a:tabLst>
                <a:tab pos="0" algn="l"/>
              </a:tabLst>
            </a:pPr>
            <a:r>
              <a:rPr lang="en-US" sz="2800" b="1" dirty="0">
                <a:solidFill>
                  <a:srgbClr val="000000"/>
                </a:solidFill>
                <a:latin typeface="Times New Roman"/>
                <a:ea typeface="Times New Roman"/>
              </a:rPr>
              <a:t>Bhavana S (25038117148221008)</a:t>
            </a:r>
            <a:endParaRPr lang="en-US" sz="2800" dirty="0">
              <a:solidFill>
                <a:srgbClr val="000000"/>
              </a:solidFill>
            </a:endParaRPr>
          </a:p>
          <a:p>
            <a:pPr>
              <a:spcBef>
                <a:spcPts val="1067"/>
              </a:spcBef>
            </a:pPr>
            <a:br>
              <a:rPr lang="en" sz="2533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533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spcBef>
                <a:spcPts val="1067"/>
              </a:spcBef>
            </a:pPr>
            <a:endParaRPr sz="2533" b="1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7494657" y="4369539"/>
            <a:ext cx="4329200" cy="20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 fontScale="92500" lnSpcReduction="20000"/>
          </a:bodyPr>
          <a:lstStyle/>
          <a:p>
            <a:pPr>
              <a:lnSpc>
                <a:spcPct val="90000"/>
              </a:lnSpc>
              <a:buClr>
                <a:srgbClr val="002060"/>
              </a:buClr>
              <a:buSzPts val="2100"/>
            </a:pPr>
            <a:r>
              <a:rPr lang="en" sz="28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</a:t>
            </a:r>
            <a:endParaRPr sz="2800" b="1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90000"/>
              </a:lnSpc>
              <a:spcBef>
                <a:spcPts val="1067"/>
              </a:spcBef>
              <a:buClr>
                <a:srgbClr val="002060"/>
              </a:buClr>
              <a:buSzPts val="1500"/>
            </a:pPr>
            <a:r>
              <a:rPr lang="en-US" sz="2600" b="1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Ms.S.Murgavlli</a:t>
            </a:r>
            <a:r>
              <a:rPr lang="en-US" sz="26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M.E, </a:t>
            </a:r>
            <a:r>
              <a:rPr lang="en-US" sz="2600" b="1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Ph.d</a:t>
            </a:r>
            <a:r>
              <a:rPr lang="en-US" sz="26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</a:p>
          <a:p>
            <a:pPr>
              <a:lnSpc>
                <a:spcPct val="90000"/>
              </a:lnSpc>
              <a:spcBef>
                <a:spcPts val="1067"/>
              </a:spcBef>
              <a:buClr>
                <a:srgbClr val="002060"/>
              </a:buClr>
              <a:buSzPts val="1500"/>
            </a:pPr>
            <a:r>
              <a:rPr lang="en-US" sz="2133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 / AI</a:t>
            </a:r>
          </a:p>
          <a:p>
            <a:pPr>
              <a:lnSpc>
                <a:spcPct val="90000"/>
              </a:lnSpc>
              <a:spcBef>
                <a:spcPts val="1067"/>
              </a:spcBef>
              <a:buClr>
                <a:srgbClr val="002060"/>
              </a:buClr>
              <a:buSzPts val="1500"/>
            </a:pPr>
            <a:endParaRPr lang="en" sz="2000" b="1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90000"/>
              </a:lnSpc>
              <a:spcBef>
                <a:spcPts val="1067"/>
              </a:spcBef>
              <a:buClr>
                <a:srgbClr val="002060"/>
              </a:buClr>
              <a:buSzPts val="1500"/>
            </a:pPr>
            <a:br>
              <a:rPr lang="en" sz="20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 b="1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1191791" y="2400944"/>
            <a:ext cx="10109200" cy="10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b" anchorCtr="0">
            <a:noAutofit/>
          </a:bodyPr>
          <a:lstStyle/>
          <a:p>
            <a:pPr lvl="0" algn="ctr"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en-US" sz="32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AGI1242 – MACHINE LEARNING TECHNIQUES</a:t>
            </a:r>
            <a:endParaRPr sz="3200" b="1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sldNum" idx="1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648B5F7-FE2D-4F9D-8FE8-E997E6A274B7}" type="slidenum">
              <a:rPr lang="en-US" sz="1200" b="0" u="none" strike="noStrike">
                <a:solidFill>
                  <a:srgbClr val="888888"/>
                </a:solidFill>
                <a:uFillTx/>
                <a:latin typeface="Calibri"/>
                <a:ea typeface="Calibri"/>
              </a:rPr>
              <a:t>2</a:t>
            </a:fld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Google Shape;102;p2"/>
          <p:cNvSpPr/>
          <p:nvPr/>
        </p:nvSpPr>
        <p:spPr>
          <a:xfrm>
            <a:off x="448951" y="2397960"/>
            <a:ext cx="11089440" cy="206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 dirty="0">
                <a:solidFill>
                  <a:srgbClr val="000000"/>
                </a:solidFill>
                <a:uFillTx/>
                <a:latin typeface="Arial"/>
              </a:rPr>
              <a:t>Intelligent Vision-Based Sign Language Recognition and Interpretation</a:t>
            </a:r>
          </a:p>
          <a:p>
            <a:pPr algn="just">
              <a:lnSpc>
                <a:spcPct val="100000"/>
              </a:lnSpc>
              <a:tabLst>
                <a:tab pos="0" algn="l"/>
              </a:tabLst>
            </a:pPr>
            <a:endParaRPr lang="en-US" sz="4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" name="Google Shape;155;g2df84bd36ed_0_0">
            <a:extLst>
              <a:ext uri="{FF2B5EF4-FFF2-40B4-BE49-F238E27FC236}">
                <a16:creationId xmlns:a16="http://schemas.microsoft.com/office/drawing/2014/main" id="{E7D2C9B2-F498-D056-B158-30FB3A370F0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0348" y="181012"/>
            <a:ext cx="800100" cy="792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56;g2df84bd36ed_0_0">
            <a:extLst>
              <a:ext uri="{FF2B5EF4-FFF2-40B4-BE49-F238E27FC236}">
                <a16:creationId xmlns:a16="http://schemas.microsoft.com/office/drawing/2014/main" id="{0CE7DFD0-6C4D-1061-7C27-888E53463C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76068" y="136440"/>
            <a:ext cx="865584" cy="827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160800" y="1106640"/>
            <a:ext cx="8192520" cy="22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just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1" u="none" strike="noStrike" dirty="0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RESEARCH OBJECTIVES</a:t>
            </a:r>
            <a:endParaRPr lang="en-US" sz="3200" b="1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D675172-A549-4C3D-AD71-BE2D8A1FDC10}" type="slidenum">
              <a:rPr lang="en-US" sz="1200" b="0" u="none" strike="noStrike">
                <a:solidFill>
                  <a:srgbClr val="888888"/>
                </a:solidFill>
                <a:uFillTx/>
                <a:latin typeface="Calibri"/>
                <a:ea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Google Shape;109;p3"/>
          <p:cNvSpPr/>
          <p:nvPr/>
        </p:nvSpPr>
        <p:spPr>
          <a:xfrm>
            <a:off x="340920" y="1967760"/>
            <a:ext cx="11359800" cy="399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2" name="Google Shape;110;p3"/>
          <p:cNvSpPr/>
          <p:nvPr/>
        </p:nvSpPr>
        <p:spPr>
          <a:xfrm>
            <a:off x="681840" y="1783080"/>
            <a:ext cx="1150956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marL="169920" algn="just">
              <a:lnSpc>
                <a:spcPct val="15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512640" indent="-34308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Develop a vision-based system to recognize sign language gestures.</a:t>
            </a:r>
            <a:endParaRPr lang="en-US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512640" indent="-34308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Capture hand gestures using a camera.</a:t>
            </a:r>
            <a:endParaRPr lang="en-US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512640" indent="-34308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Extract important hand and finger features from images/video.</a:t>
            </a:r>
            <a:endParaRPr lang="en-US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512640" indent="-34308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Classify gestures using a deep learning/ML model.</a:t>
            </a:r>
            <a:endParaRPr lang="en-US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512640" indent="-34308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Convert recognized signs into text or speech for communication.</a:t>
            </a:r>
            <a:endParaRPr lang="en-US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" name="Google Shape;155;g2df84bd36ed_0_0">
            <a:extLst>
              <a:ext uri="{FF2B5EF4-FFF2-40B4-BE49-F238E27FC236}">
                <a16:creationId xmlns:a16="http://schemas.microsoft.com/office/drawing/2014/main" id="{2C2700FD-FA18-A414-E04D-107CFFF1781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0348" y="181012"/>
            <a:ext cx="800100" cy="792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56;g2df84bd36ed_0_0">
            <a:extLst>
              <a:ext uri="{FF2B5EF4-FFF2-40B4-BE49-F238E27FC236}">
                <a16:creationId xmlns:a16="http://schemas.microsoft.com/office/drawing/2014/main" id="{77F11A6E-2634-E212-3F9D-0C200B5999A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76068" y="136440"/>
            <a:ext cx="865584" cy="827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C8A2759-9C96-4855-9850-A4EF2A15CAB2}" type="slidenum">
              <a:rPr lang="en-US" sz="1200" b="0" u="none" strike="noStrike">
                <a:solidFill>
                  <a:srgbClr val="888888"/>
                </a:solidFill>
                <a:uFillTx/>
                <a:latin typeface="Calibri"/>
                <a:ea typeface="Calibri"/>
              </a:rPr>
              <a:t>4</a:t>
            </a:fld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Google Shape;116;p4"/>
          <p:cNvSpPr/>
          <p:nvPr/>
        </p:nvSpPr>
        <p:spPr>
          <a:xfrm>
            <a:off x="3369960" y="587520"/>
            <a:ext cx="7609320" cy="57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just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PROBLEM STATEMENT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Google Shape;117;p4"/>
          <p:cNvSpPr/>
          <p:nvPr/>
        </p:nvSpPr>
        <p:spPr>
          <a:xfrm>
            <a:off x="1555200" y="1490040"/>
            <a:ext cx="9081360" cy="62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just">
              <a:lnSpc>
                <a:spcPct val="150000"/>
              </a:lnSpc>
            </a:pPr>
            <a:endParaRPr lang="en-US" sz="2400" b="0" u="none" strike="noStrike">
              <a:solidFill>
                <a:srgbClr val="000000"/>
              </a:solidFill>
              <a:uFillTx/>
              <a:latin typeface="Times New Roman"/>
              <a:ea typeface="Times New Roman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413720" y="1490040"/>
            <a:ext cx="9222840" cy="51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en-IN" sz="28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08181" y="1500029"/>
            <a:ext cx="10589052" cy="45228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marL="461880" indent="-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uFillTx/>
                <a:latin typeface="Arial"/>
                <a:ea typeface="Arial"/>
              </a:rPr>
              <a:t>Sign language is an important communication method for deaf and hard-of-hearing people.</a:t>
            </a:r>
          </a:p>
          <a:p>
            <a:pPr marL="461880" indent="-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461880" indent="-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uFillTx/>
                <a:latin typeface="Arial"/>
                <a:ea typeface="Arial"/>
              </a:rPr>
              <a:t>Most people do not understand sign language.</a:t>
            </a:r>
          </a:p>
          <a:p>
            <a:pPr marL="461880" indent="-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461880" indent="-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uFillTx/>
                <a:latin typeface="Arial"/>
                <a:ea typeface="Arial"/>
              </a:rPr>
              <a:t>Manual interpretation requires a human interpreter.</a:t>
            </a:r>
          </a:p>
          <a:p>
            <a:pPr marL="461880" indent="-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461880" indent="-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uFillTx/>
                <a:latin typeface="Arial"/>
                <a:ea typeface="Arial"/>
              </a:rPr>
              <a:t>Existing systems may have limitations in accuracy, real-time performance, and gesture variations.</a:t>
            </a:r>
          </a:p>
          <a:p>
            <a:pPr marL="461880" indent="-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461880" indent="-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uFillTx/>
                <a:latin typeface="Arial"/>
                <a:ea typeface="Arial"/>
              </a:rPr>
              <a:t>An intelligent computer-vision system is needed to automatically recognize and interpret sign language.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" name="Google Shape;155;g2df84bd36ed_0_0">
            <a:extLst>
              <a:ext uri="{FF2B5EF4-FFF2-40B4-BE49-F238E27FC236}">
                <a16:creationId xmlns:a16="http://schemas.microsoft.com/office/drawing/2014/main" id="{1B4F54EE-9C4F-EAFC-C716-E67F0F25BA3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0348" y="181012"/>
            <a:ext cx="800100" cy="792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56;g2df84bd36ed_0_0">
            <a:extLst>
              <a:ext uri="{FF2B5EF4-FFF2-40B4-BE49-F238E27FC236}">
                <a16:creationId xmlns:a16="http://schemas.microsoft.com/office/drawing/2014/main" id="{426A7591-EF84-3520-362D-FD4567EA5F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76068" y="136440"/>
            <a:ext cx="865584" cy="827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22;p5"/>
          <p:cNvSpPr/>
          <p:nvPr/>
        </p:nvSpPr>
        <p:spPr>
          <a:xfrm>
            <a:off x="3291120" y="253440"/>
            <a:ext cx="11681280" cy="57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just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LITERATURE SURVEY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sldNum" idx="1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2DE0D9A-B897-4673-814D-4B32CC496E0B}" type="slidenum">
              <a:rPr lang="en-US" sz="1200" b="0" u="none" strike="noStrike">
                <a:solidFill>
                  <a:srgbClr val="888888"/>
                </a:solidFill>
                <a:uFillTx/>
                <a:latin typeface="Calibri"/>
                <a:ea typeface="Calibri"/>
              </a:rPr>
              <a:t>5</a:t>
            </a:fld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Google Shape;124;p5"/>
          <p:cNvSpPr/>
          <p:nvPr/>
        </p:nvSpPr>
        <p:spPr>
          <a:xfrm rot="211800">
            <a:off x="621720" y="1361520"/>
            <a:ext cx="10948320" cy="453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just">
              <a:lnSpc>
                <a:spcPct val="150000"/>
              </a:lnSpc>
            </a:pPr>
            <a:endParaRPr lang="en-US" sz="2400" b="0" u="none" strike="noStrike">
              <a:solidFill>
                <a:srgbClr val="000000"/>
              </a:solidFill>
              <a:uFillTx/>
              <a:latin typeface="Times New Roman"/>
              <a:ea typeface="Times New Roman"/>
            </a:endParaRPr>
          </a:p>
        </p:txBody>
      </p:sp>
      <p:pic>
        <p:nvPicPr>
          <p:cNvPr id="41" name="Picture 40"/>
          <p:cNvPicPr/>
          <p:nvPr/>
        </p:nvPicPr>
        <p:blipFill>
          <a:blip r:embed="rId2"/>
          <a:srcRect b="31794"/>
          <a:stretch>
            <a:fillRect/>
          </a:stretch>
        </p:blipFill>
        <p:spPr>
          <a:xfrm>
            <a:off x="492373" y="253440"/>
            <a:ext cx="11207011" cy="623585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Google Shape;155;g2df84bd36ed_0_0">
            <a:extLst>
              <a:ext uri="{FF2B5EF4-FFF2-40B4-BE49-F238E27FC236}">
                <a16:creationId xmlns:a16="http://schemas.microsoft.com/office/drawing/2014/main" id="{257518FE-808C-0523-0849-C8148D7FC4F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348" y="181012"/>
            <a:ext cx="800100" cy="792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56;g2df84bd36ed_0_0">
            <a:extLst>
              <a:ext uri="{FF2B5EF4-FFF2-40B4-BE49-F238E27FC236}">
                <a16:creationId xmlns:a16="http://schemas.microsoft.com/office/drawing/2014/main" id="{AADE9D4D-4B8A-E496-BED3-DEF10F854CE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76068" y="136440"/>
            <a:ext cx="865584" cy="827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F5B381E-2E29-4B21-B8AA-D8937BA1BEFF}" type="slidenum">
              <a:rPr lang="en-US" sz="1200" b="0" u="none" strike="noStrike">
                <a:solidFill>
                  <a:srgbClr val="888888"/>
                </a:solidFill>
                <a:uFillTx/>
                <a:latin typeface="Calibri"/>
                <a:ea typeface="Calibri"/>
              </a:rPr>
              <a:t>6</a:t>
            </a:fld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Google Shape;130;p6"/>
          <p:cNvSpPr/>
          <p:nvPr/>
        </p:nvSpPr>
        <p:spPr>
          <a:xfrm>
            <a:off x="3744000" y="695880"/>
            <a:ext cx="7609320" cy="57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just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PROPOSED SYSTEM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Google Shape;131;p6"/>
          <p:cNvSpPr/>
          <p:nvPr/>
        </p:nvSpPr>
        <p:spPr>
          <a:xfrm>
            <a:off x="1019274" y="1683692"/>
            <a:ext cx="9407880" cy="33495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marL="538020" indent="-342900" algn="just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Capture sign language gestures through a camera.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538020" indent="-342900" algn="just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Detect and track the user's hand.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538020" indent="-342900" algn="just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Extract hand landmarks/features.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538020" indent="-342900" algn="just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Preprocess the captured gesture.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538020" indent="-342900" algn="just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Classify the gesture using a trained ML/DL model.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538020" indent="-342900" algn="just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Convert the recognized sign into text and/or speech.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" name="Google Shape;155;g2df84bd36ed_0_0">
            <a:extLst>
              <a:ext uri="{FF2B5EF4-FFF2-40B4-BE49-F238E27FC236}">
                <a16:creationId xmlns:a16="http://schemas.microsoft.com/office/drawing/2014/main" id="{49801D42-2DE1-B8CD-D2A0-30389122E7A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0348" y="181012"/>
            <a:ext cx="800100" cy="792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56;g2df84bd36ed_0_0">
            <a:extLst>
              <a:ext uri="{FF2B5EF4-FFF2-40B4-BE49-F238E27FC236}">
                <a16:creationId xmlns:a16="http://schemas.microsoft.com/office/drawing/2014/main" id="{64E7B902-2A52-4F29-5F27-3C2E0E6B40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76068" y="136440"/>
            <a:ext cx="865584" cy="827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3C24087-7773-4A1F-86B7-17D009C5ED07}" type="slidenum">
              <a:rPr lang="en-US" sz="1200" b="0" u="none" strike="noStrike">
                <a:solidFill>
                  <a:srgbClr val="888888"/>
                </a:solidFill>
                <a:uFillTx/>
                <a:latin typeface="Calibri"/>
                <a:ea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Google Shape;137;p7"/>
          <p:cNvSpPr/>
          <p:nvPr/>
        </p:nvSpPr>
        <p:spPr>
          <a:xfrm>
            <a:off x="309240" y="1158840"/>
            <a:ext cx="11573280" cy="335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just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ABSTRACT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This project proposes an Intelligent Vision-Based Sign Language Recognition and Interpretation system that uses computer vision and machine learning to recognize hand gestures. The system captures sign language through a camera, detects hand movements, extracts important features, and classifies the gestures using a trained model. The recognized signs are converted into text or speech, enabling easier communication between sign-language users and people who do not understand sign language.</a:t>
            </a:r>
            <a:endParaRPr lang="en-US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" name="Google Shape;155;g2df84bd36ed_0_0">
            <a:extLst>
              <a:ext uri="{FF2B5EF4-FFF2-40B4-BE49-F238E27FC236}">
                <a16:creationId xmlns:a16="http://schemas.microsoft.com/office/drawing/2014/main" id="{FD9783C5-7EE1-3D58-4391-185189EF570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0348" y="181012"/>
            <a:ext cx="800100" cy="792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56;g2df84bd36ed_0_0">
            <a:extLst>
              <a:ext uri="{FF2B5EF4-FFF2-40B4-BE49-F238E27FC236}">
                <a16:creationId xmlns:a16="http://schemas.microsoft.com/office/drawing/2014/main" id="{2CA2795E-3A12-306A-2225-B557969493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76068" y="136440"/>
            <a:ext cx="865584" cy="827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sldNum" idx="1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BC7BF47-8A3A-4200-A396-E67CD174AC95}" type="slidenum">
              <a:rPr lang="en-US" sz="1200" b="0" u="none" strike="noStrike">
                <a:solidFill>
                  <a:srgbClr val="888888"/>
                </a:solidFill>
                <a:uFillTx/>
                <a:latin typeface="Calibri"/>
                <a:ea typeface="Calibri"/>
              </a:rPr>
              <a:t>8</a:t>
            </a:fld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Google Shape;144;p8"/>
          <p:cNvSpPr/>
          <p:nvPr/>
        </p:nvSpPr>
        <p:spPr>
          <a:xfrm>
            <a:off x="3647520" y="519480"/>
            <a:ext cx="6334200" cy="57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just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SYSTEM ARCHITECTURE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TextBox 7"/>
          <p:cNvSpPr/>
          <p:nvPr/>
        </p:nvSpPr>
        <p:spPr>
          <a:xfrm>
            <a:off x="4446720" y="1596600"/>
            <a:ext cx="9304200" cy="29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50" name="Picture 49"/>
          <p:cNvPicPr/>
          <p:nvPr/>
        </p:nvPicPr>
        <p:blipFill>
          <a:blip r:embed="rId2"/>
          <a:stretch/>
        </p:blipFill>
        <p:spPr>
          <a:xfrm>
            <a:off x="1594800" y="1311480"/>
            <a:ext cx="9001800" cy="520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Google Shape;155;g2df84bd36ed_0_0">
            <a:extLst>
              <a:ext uri="{FF2B5EF4-FFF2-40B4-BE49-F238E27FC236}">
                <a16:creationId xmlns:a16="http://schemas.microsoft.com/office/drawing/2014/main" id="{717FF514-49A8-2FDE-BA99-7F38A0FE93A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348" y="181012"/>
            <a:ext cx="800100" cy="792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56;g2df84bd36ed_0_0">
            <a:extLst>
              <a:ext uri="{FF2B5EF4-FFF2-40B4-BE49-F238E27FC236}">
                <a16:creationId xmlns:a16="http://schemas.microsoft.com/office/drawing/2014/main" id="{171706C2-CA0C-5990-C13E-B7D4A3B6068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76068" y="136440"/>
            <a:ext cx="865584" cy="827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ldNum" idx="20"/>
          </p:nvPr>
        </p:nvSpPr>
        <p:spPr>
          <a:xfrm>
            <a:off x="11068920" y="6459480"/>
            <a:ext cx="244080" cy="18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marL="38160" indent="0" algn="r">
              <a:lnSpc>
                <a:spcPct val="103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marL="38160" indent="0" algn="r">
              <a:lnSpc>
                <a:spcPct val="103000"/>
              </a:lnSpc>
              <a:buNone/>
              <a:tabLst>
                <a:tab pos="0" algn="l"/>
              </a:tabLst>
            </a:pPr>
            <a:fld id="{FED28AA4-479D-4C29-90D0-D03792AE5937}" type="slidenum">
              <a:rPr lang="en-US" sz="1200" b="0" u="none" strike="noStrike">
                <a:solidFill>
                  <a:srgbClr val="888888"/>
                </a:solidFill>
                <a:uFillTx/>
                <a:latin typeface="Calibri"/>
                <a:ea typeface="Calibri"/>
              </a:rPr>
              <a:t>9</a:t>
            </a:fld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title"/>
          </p:nvPr>
        </p:nvSpPr>
        <p:spPr>
          <a:xfrm>
            <a:off x="3677040" y="238320"/>
            <a:ext cx="9464040" cy="745920"/>
          </a:xfrm>
          <a:prstGeom prst="rect">
            <a:avLst/>
          </a:prstGeom>
          <a:noFill/>
          <a:ln w="0">
            <a:noFill/>
          </a:ln>
        </p:spPr>
        <p:txBody>
          <a:bodyPr lIns="0" tIns="238320" rIns="0" bIns="0" anchor="ctr">
            <a:spAutoFit/>
          </a:bodyPr>
          <a:lstStyle/>
          <a:p>
            <a:pPr marL="218520" indent="0" algn="just">
              <a:lnSpc>
                <a:spcPct val="100000"/>
              </a:lnSpc>
              <a:spcBef>
                <a:spcPts val="105"/>
              </a:spcBef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METHODOLOGIES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Google Shape;151;p9"/>
          <p:cNvSpPr/>
          <p:nvPr/>
        </p:nvSpPr>
        <p:spPr>
          <a:xfrm>
            <a:off x="799500" y="1633529"/>
            <a:ext cx="10593000" cy="37324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 anchor="t">
            <a:spAutoFit/>
          </a:bodyPr>
          <a:lstStyle/>
          <a:p>
            <a:pPr marL="457200" indent="-4572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Image Acquisition Captures hand gestures using a webcam or camera.</a:t>
            </a:r>
          </a:p>
          <a:p>
            <a:pPr algn="just">
              <a:lnSpc>
                <a:spcPct val="125000"/>
              </a:lnSpc>
            </a:pPr>
            <a:endParaRPr lang="en-US" sz="2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Hand Detection &amp; Tracking detects the hand and identifies important landmarks such as fingers and joints.</a:t>
            </a:r>
          </a:p>
          <a:p>
            <a:pPr algn="just">
              <a:lnSpc>
                <a:spcPct val="125000"/>
              </a:lnSpc>
            </a:pPr>
            <a:endParaRPr lang="en-US" sz="2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Preprocessing</a:t>
            </a:r>
            <a:r>
              <a:rPr lang="en-US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Times New Roman"/>
              </a:rPr>
              <a:t>r</a:t>
            </a:r>
            <a:r>
              <a:rPr lang="en-US" sz="2800" b="0" u="none" strike="noStrike" dirty="0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emoves unnecessary information and prepares the gesture data for recognition</a:t>
            </a:r>
            <a:r>
              <a:rPr lang="en-US" sz="2400" b="0" u="none" strike="noStrike" dirty="0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.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" name="Google Shape;155;g2df84bd36ed_0_0">
            <a:extLst>
              <a:ext uri="{FF2B5EF4-FFF2-40B4-BE49-F238E27FC236}">
                <a16:creationId xmlns:a16="http://schemas.microsoft.com/office/drawing/2014/main" id="{6CE9F627-06DB-3450-02A0-FB687FF7D8C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0348" y="181012"/>
            <a:ext cx="800100" cy="792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56;g2df84bd36ed_0_0">
            <a:extLst>
              <a:ext uri="{FF2B5EF4-FFF2-40B4-BE49-F238E27FC236}">
                <a16:creationId xmlns:a16="http://schemas.microsoft.com/office/drawing/2014/main" id="{62D170B9-2481-8B27-3585-E8010D2B02C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76068" y="136440"/>
            <a:ext cx="865584" cy="827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162;p11"/>
          <p:cNvSpPr/>
          <p:nvPr/>
        </p:nvSpPr>
        <p:spPr>
          <a:xfrm>
            <a:off x="828370" y="1539860"/>
            <a:ext cx="9888794" cy="35394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Feature Extraction extracts hand landmarks, finger positions, </a:t>
            </a:r>
            <a:r>
              <a:rPr lang="en-US" sz="2800" b="0" u="none" strike="noStrike" dirty="0" err="1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angles,and</a:t>
            </a:r>
            <a:r>
              <a:rPr lang="en-US" sz="2800" b="0" u="none" strike="noStrike" dirty="0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other useful features.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Machine Learning / Deep Learning</a:t>
            </a:r>
            <a:r>
              <a:rPr lang="en-US" sz="2800" b="0" u="none" strike="noStrike" dirty="0">
                <a:solidFill>
                  <a:srgbClr val="000000"/>
                </a:solidFill>
                <a:uFillTx/>
                <a:latin typeface="Arial"/>
                <a:ea typeface="Times New Roman"/>
              </a:rPr>
              <a:t> - </a:t>
            </a:r>
            <a:r>
              <a:rPr lang="en-US" sz="2800" b="0" u="none" strike="noStrike" dirty="0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The extracted features are given to a trained classification model to identify the sign.</a:t>
            </a: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Interpretation</a:t>
            </a:r>
            <a:r>
              <a:rPr lang="en-US" sz="2800" dirty="0">
                <a:solidFill>
                  <a:srgbClr val="000000"/>
                </a:solidFill>
                <a:latin typeface="Arial"/>
              </a:rPr>
              <a:t> - </a:t>
            </a:r>
            <a:r>
              <a:rPr lang="en-US" sz="2800" b="0" u="none" strike="noStrike" dirty="0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The recognized sign is converted into meaningful text or speech.</a:t>
            </a:r>
            <a:endParaRPr lang="en-US" sz="2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" name="Google Shape;155;g2df84bd36ed_0_0">
            <a:extLst>
              <a:ext uri="{FF2B5EF4-FFF2-40B4-BE49-F238E27FC236}">
                <a16:creationId xmlns:a16="http://schemas.microsoft.com/office/drawing/2014/main" id="{6A39FDFF-7D73-D7C2-7AAC-8F8E570004D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0348" y="181012"/>
            <a:ext cx="800100" cy="792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56;g2df84bd36ed_0_0">
            <a:extLst>
              <a:ext uri="{FF2B5EF4-FFF2-40B4-BE49-F238E27FC236}">
                <a16:creationId xmlns:a16="http://schemas.microsoft.com/office/drawing/2014/main" id="{42480A74-B064-0E6E-65B1-18D672AE74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76068" y="136440"/>
            <a:ext cx="865584" cy="827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822120" y="3207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just">
              <a:lnSpc>
                <a:spcPct val="90000"/>
              </a:lnSpc>
              <a:buNone/>
            </a:pPr>
            <a:r>
              <a:rPr lang="en-IN" sz="3200" b="1" u="none" strike="noStrike">
                <a:solidFill>
                  <a:schemeClr val="dk1"/>
                </a:solidFill>
                <a:uFillTx/>
                <a:latin typeface="Times New Roman"/>
                <a:ea typeface="Calibri"/>
              </a:rPr>
              <a:t>IMPLEMENTATION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5982BD9-300C-4F78-98C8-61AECDF42A61}" type="slidenum">
              <a:rPr lang="en-US" sz="1200" b="0" u="none" strike="noStrike">
                <a:solidFill>
                  <a:srgbClr val="888888"/>
                </a:solidFill>
                <a:uFillTx/>
                <a:latin typeface="Calibri"/>
                <a:ea typeface="Calibri"/>
              </a:rPr>
              <a:t>11</a:t>
            </a:fld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838080" y="14886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9643"/>
          </a:bodyPr>
          <a:lstStyle/>
          <a:p>
            <a:pPr marL="114480"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57168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uFillTx/>
                <a:latin typeface="Times New Roman"/>
                <a:ea typeface="Calibri"/>
              </a:rPr>
              <a:t>Collect sign language image/video data.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57168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uFillTx/>
                <a:latin typeface="Times New Roman"/>
                <a:ea typeface="Calibri"/>
              </a:rPr>
              <a:t>Preprocess the collected data.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57168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uFillTx/>
                <a:latin typeface="Times New Roman"/>
                <a:ea typeface="Calibri"/>
              </a:rPr>
              <a:t>Detect hands from the input video.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57168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uFillTx/>
                <a:latin typeface="Times New Roman"/>
                <a:ea typeface="Calibri"/>
              </a:rPr>
              <a:t>Extract hand landmarks/features.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57168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uFillTx/>
                <a:latin typeface="Times New Roman"/>
                <a:ea typeface="Calibri"/>
              </a:rPr>
              <a:t>Create training and testing datasets.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" name="Google Shape;155;g2df84bd36ed_0_0">
            <a:extLst>
              <a:ext uri="{FF2B5EF4-FFF2-40B4-BE49-F238E27FC236}">
                <a16:creationId xmlns:a16="http://schemas.microsoft.com/office/drawing/2014/main" id="{44FAC5D0-718A-278F-3AF9-F30E5616976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0348" y="181012"/>
            <a:ext cx="800100" cy="792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56;g2df84bd36ed_0_0">
            <a:extLst>
              <a:ext uri="{FF2B5EF4-FFF2-40B4-BE49-F238E27FC236}">
                <a16:creationId xmlns:a16="http://schemas.microsoft.com/office/drawing/2014/main" id="{8CAA982A-93D3-2668-6CAF-720754DD9A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76068" y="136440"/>
            <a:ext cx="865584" cy="827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Num" idx="2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C49D215-9A32-405E-84AF-3E963B63B6DD}" type="slidenum">
              <a:rPr lang="en-US" sz="1200" b="0" u="none" strike="noStrike">
                <a:solidFill>
                  <a:srgbClr val="888888"/>
                </a:solidFill>
                <a:uFillTx/>
                <a:latin typeface="Calibri"/>
                <a:ea typeface="Calibri"/>
              </a:rPr>
              <a:t>12</a:t>
            </a:fld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982440" y="12531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57168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 dirty="0">
                <a:solidFill>
                  <a:schemeClr val="dk1"/>
                </a:solidFill>
                <a:uFillTx/>
                <a:latin typeface="Times New Roman"/>
                <a:ea typeface="Calibri"/>
              </a:rPr>
              <a:t>Train the classification model.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57168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 dirty="0">
                <a:solidFill>
                  <a:schemeClr val="dk1"/>
                </a:solidFill>
                <a:uFillTx/>
                <a:latin typeface="Times New Roman"/>
                <a:ea typeface="Calibri"/>
              </a:rPr>
              <a:t>Test the model with new gestures.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57168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 dirty="0">
                <a:solidFill>
                  <a:schemeClr val="dk1"/>
                </a:solidFill>
                <a:uFillTx/>
                <a:latin typeface="Times New Roman"/>
                <a:ea typeface="Calibri"/>
              </a:rPr>
              <a:t>Recognize the sign in real time.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57168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 dirty="0">
                <a:solidFill>
                  <a:schemeClr val="dk1"/>
                </a:solidFill>
                <a:uFillTx/>
                <a:latin typeface="Times New Roman"/>
                <a:ea typeface="Calibri"/>
              </a:rPr>
              <a:t>Display the corresponding text.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57168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 dirty="0">
                <a:solidFill>
                  <a:schemeClr val="dk1"/>
                </a:solidFill>
                <a:uFillTx/>
                <a:latin typeface="Times New Roman"/>
                <a:ea typeface="Calibri"/>
              </a:rPr>
              <a:t>Generate speech output if required.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" name="Google Shape;155;g2df84bd36ed_0_0">
            <a:extLst>
              <a:ext uri="{FF2B5EF4-FFF2-40B4-BE49-F238E27FC236}">
                <a16:creationId xmlns:a16="http://schemas.microsoft.com/office/drawing/2014/main" id="{7CEBB35B-A8E6-90A1-CF28-E785364FE56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0348" y="181012"/>
            <a:ext cx="800100" cy="792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56;g2df84bd36ed_0_0">
            <a:extLst>
              <a:ext uri="{FF2B5EF4-FFF2-40B4-BE49-F238E27FC236}">
                <a16:creationId xmlns:a16="http://schemas.microsoft.com/office/drawing/2014/main" id="{3D542C16-AA26-093D-B877-B9653186DF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76068" y="136440"/>
            <a:ext cx="865584" cy="827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38160" indent="0" algn="r">
              <a:lnSpc>
                <a:spcPct val="103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78787"/>
                </a:solidFill>
                <a:uFillTx/>
                <a:latin typeface="Calibri"/>
                <a:ea typeface="Calibri"/>
              </a:defRPr>
            </a:lvl1pPr>
          </a:lstStyle>
          <a:p>
            <a:pPr marL="38160" indent="0" algn="r">
              <a:lnSpc>
                <a:spcPct val="103000"/>
              </a:lnSpc>
              <a:buNone/>
              <a:tabLst>
                <a:tab pos="0" algn="l"/>
              </a:tabLst>
            </a:pPr>
            <a:fld id="{DA72A27E-FDF3-4AF9-9322-6EBDA4927F3D}" type="slidenum">
              <a:rPr lang="en-US" sz="1200" b="0" u="none" strike="noStrike">
                <a:solidFill>
                  <a:srgbClr val="878787"/>
                </a:solidFill>
                <a:uFillTx/>
                <a:latin typeface="Calibri"/>
                <a:ea typeface="Calibri"/>
              </a:rPr>
              <a:t>13</a:t>
            </a:fld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TextBox 4"/>
          <p:cNvSpPr/>
          <p:nvPr/>
        </p:nvSpPr>
        <p:spPr>
          <a:xfrm>
            <a:off x="3625200" y="237240"/>
            <a:ext cx="824904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IN" sz="3200" b="1" u="none" strike="noStrike">
                <a:solidFill>
                  <a:srgbClr val="000000"/>
                </a:solidFill>
                <a:uFillTx/>
                <a:latin typeface="Times New Roman"/>
                <a:ea typeface="Arial"/>
              </a:rPr>
              <a:t>RESULT AND OUTPUT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4" name="Picture 63"/>
          <p:cNvPicPr/>
          <p:nvPr/>
        </p:nvPicPr>
        <p:blipFill>
          <a:blip r:embed="rId2"/>
          <a:stretch/>
        </p:blipFill>
        <p:spPr>
          <a:xfrm>
            <a:off x="1105200" y="985680"/>
            <a:ext cx="9277200" cy="573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Google Shape;155;g2df84bd36ed_0_0">
            <a:extLst>
              <a:ext uri="{FF2B5EF4-FFF2-40B4-BE49-F238E27FC236}">
                <a16:creationId xmlns:a16="http://schemas.microsoft.com/office/drawing/2014/main" id="{7BDEFA71-418B-3629-D29D-6ADA24D6AAF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348" y="181012"/>
            <a:ext cx="800100" cy="792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56;g2df84bd36ed_0_0">
            <a:extLst>
              <a:ext uri="{FF2B5EF4-FFF2-40B4-BE49-F238E27FC236}">
                <a16:creationId xmlns:a16="http://schemas.microsoft.com/office/drawing/2014/main" id="{4DF247A8-7D7F-282A-A32E-334A1D2E432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76068" y="136440"/>
            <a:ext cx="865584" cy="827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38160" indent="0" algn="r">
              <a:lnSpc>
                <a:spcPct val="103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78787"/>
                </a:solidFill>
                <a:uFillTx/>
                <a:latin typeface="Calibri"/>
                <a:ea typeface="Calibri"/>
              </a:defRPr>
            </a:lvl1pPr>
          </a:lstStyle>
          <a:p>
            <a:pPr marL="38160" indent="0" algn="r">
              <a:lnSpc>
                <a:spcPct val="103000"/>
              </a:lnSpc>
              <a:buNone/>
              <a:tabLst>
                <a:tab pos="0" algn="l"/>
              </a:tabLst>
            </a:pPr>
            <a:fld id="{BB4909F7-93FC-42A1-A905-1716C2949C54}" type="slidenum">
              <a:rPr lang="en-US" sz="1200" b="0" u="none" strike="noStrike">
                <a:solidFill>
                  <a:srgbClr val="878787"/>
                </a:solidFill>
                <a:uFillTx/>
                <a:latin typeface="Calibri"/>
                <a:ea typeface="Calibri"/>
              </a:rPr>
              <a:t>14</a:t>
            </a:fld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TextBox 3"/>
          <p:cNvSpPr/>
          <p:nvPr/>
        </p:nvSpPr>
        <p:spPr>
          <a:xfrm>
            <a:off x="400185" y="1136791"/>
            <a:ext cx="10953135" cy="489219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u="none" strike="noStrike" dirty="0">
                <a:solidFill>
                  <a:srgbClr val="000000"/>
                </a:solidFill>
                <a:uFillTx/>
                <a:latin typeface="Times New Roman"/>
                <a:ea typeface="Arial"/>
              </a:rPr>
              <a:t>CONCLUSION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200" b="0" u="none" strike="noStrike" dirty="0">
                <a:solidFill>
                  <a:srgbClr val="000000"/>
                </a:solidFill>
                <a:uFillTx/>
                <a:latin typeface="Times New Roman"/>
                <a:ea typeface="Arial"/>
              </a:rPr>
              <a:t>The proposed system provides an intelligent and vision-based approach for recognizing sign language gestures. By combining computer vision with machine learning/deep learning, the system can identify hand gestures and convert them into understandable text or speech. This can help reduce communication barriers and support more inclusive communication.</a:t>
            </a:r>
            <a:endParaRPr lang="en-US" sz="2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lang="en-US" sz="2400" b="1" u="none" strike="noStrike" dirty="0">
                <a:solidFill>
                  <a:srgbClr val="000000"/>
                </a:solidFill>
                <a:uFillTx/>
                <a:latin typeface="Times New Roman"/>
                <a:ea typeface="Arial"/>
              </a:rPr>
              <a:t>FUTURE WORK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200" b="0" u="none" strike="noStrike" dirty="0">
                <a:solidFill>
                  <a:srgbClr val="000000"/>
                </a:solidFill>
                <a:uFillTx/>
                <a:latin typeface="Times New Roman"/>
                <a:ea typeface="Arial"/>
              </a:rPr>
              <a:t>Continuous Sign Recognition – Recognize complete sentences instead of individual signs.</a:t>
            </a:r>
            <a:endParaRPr lang="en-US" sz="2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200" b="0" u="none" strike="noStrike" dirty="0">
                <a:solidFill>
                  <a:srgbClr val="000000"/>
                </a:solidFill>
                <a:uFillTx/>
                <a:latin typeface="Times New Roman"/>
                <a:ea typeface="Arial"/>
              </a:rPr>
              <a:t>Multi-Language Support – Support different sign languages.</a:t>
            </a:r>
            <a:endParaRPr lang="en-US" sz="2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200" b="0" u="none" strike="noStrike" dirty="0">
                <a:solidFill>
                  <a:srgbClr val="000000"/>
                </a:solidFill>
                <a:uFillTx/>
                <a:latin typeface="Times New Roman"/>
                <a:ea typeface="Arial"/>
              </a:rPr>
              <a:t>Real-Time Mobile Application – Deploy the system on smartphones.</a:t>
            </a:r>
            <a:endParaRPr lang="en-US" sz="2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200" b="0" u="none" strike="noStrike" dirty="0">
                <a:solidFill>
                  <a:srgbClr val="000000"/>
                </a:solidFill>
                <a:uFillTx/>
                <a:latin typeface="Times New Roman"/>
                <a:ea typeface="Arial"/>
              </a:rPr>
              <a:t>Improved Accuracy – Train using larger and more diverse datasets.</a:t>
            </a:r>
            <a:endParaRPr lang="en-US" sz="2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200" b="0" u="none" strike="noStrike" dirty="0">
                <a:solidFill>
                  <a:srgbClr val="000000"/>
                </a:solidFill>
                <a:uFillTx/>
                <a:latin typeface="Times New Roman"/>
                <a:ea typeface="Arial"/>
              </a:rPr>
              <a:t>Speech and Text Integration – Provide two-way communication.</a:t>
            </a:r>
            <a:endParaRPr lang="en-US" sz="2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200" b="0" u="none" strike="noStrike" dirty="0">
                <a:solidFill>
                  <a:srgbClr val="000000"/>
                </a:solidFill>
                <a:uFillTx/>
                <a:latin typeface="Times New Roman"/>
                <a:ea typeface="Arial"/>
              </a:rPr>
              <a:t>Advanced AI Models – Use Transformer/LSTM-based models for dynamic gestures.</a:t>
            </a:r>
            <a:endParaRPr lang="en-US" sz="2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TextBox 4"/>
          <p:cNvSpPr/>
          <p:nvPr/>
        </p:nvSpPr>
        <p:spPr>
          <a:xfrm flipH="1">
            <a:off x="11486160" y="-1959840"/>
            <a:ext cx="704520" cy="29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68" name="TextBox 7"/>
          <p:cNvSpPr/>
          <p:nvPr/>
        </p:nvSpPr>
        <p:spPr>
          <a:xfrm>
            <a:off x="2663280" y="15735960"/>
            <a:ext cx="9175680" cy="44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en-IN" sz="2400" b="0" u="none" strike="noStrike">
              <a:solidFill>
                <a:srgbClr val="000000"/>
              </a:solidFill>
              <a:uFillTx/>
              <a:latin typeface="Times New Roman"/>
              <a:ea typeface="Arial"/>
            </a:endParaRPr>
          </a:p>
        </p:txBody>
      </p:sp>
      <p:pic>
        <p:nvPicPr>
          <p:cNvPr id="3" name="Google Shape;155;g2df84bd36ed_0_0">
            <a:extLst>
              <a:ext uri="{FF2B5EF4-FFF2-40B4-BE49-F238E27FC236}">
                <a16:creationId xmlns:a16="http://schemas.microsoft.com/office/drawing/2014/main" id="{ECF496B6-BED4-B2EC-C23C-878F17A2A9E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0348" y="181012"/>
            <a:ext cx="800100" cy="792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56;g2df84bd36ed_0_0">
            <a:extLst>
              <a:ext uri="{FF2B5EF4-FFF2-40B4-BE49-F238E27FC236}">
                <a16:creationId xmlns:a16="http://schemas.microsoft.com/office/drawing/2014/main" id="{25605EF2-AF51-93F6-41BE-6EE9F905EFD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76068" y="136440"/>
            <a:ext cx="865584" cy="827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2274120" y="2943720"/>
            <a:ext cx="7643160" cy="97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just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1500" b="1" u="none" strike="noStrik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Thank You</a:t>
            </a:r>
            <a:endParaRPr lang="en-US" sz="115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sldNum" idx="2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8EE6FD-E528-4B2C-963D-BDC3E22856AA}" type="slidenum">
              <a:rPr lang="en-US" sz="1200" b="0" u="none" strike="noStrike">
                <a:solidFill>
                  <a:srgbClr val="888888"/>
                </a:solidFill>
                <a:uFillTx/>
                <a:latin typeface="Calibri"/>
                <a:ea typeface="Calibri"/>
              </a:rPr>
              <a:t>15</a:t>
            </a:fld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601</Words>
  <Application>Microsoft Office PowerPoint</Application>
  <PresentationFormat>Widescreen</PresentationFormat>
  <Paragraphs>93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DEPARTMENT OF CSE(ARTIFICIAL INTELLIGENCE AND MACHINE LEARNING)</vt:lpstr>
      <vt:lpstr>PowerPoint Presentation</vt:lpstr>
      <vt:lpstr>RESEARCH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METHODOLOGIES</vt:lpstr>
      <vt:lpstr>PowerPoint Presentation</vt:lpstr>
      <vt:lpstr>IMPLEMENTATION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Devirani Shita</dc:creator>
  <dc:description/>
  <cp:lastModifiedBy>Grandmaster Berlin</cp:lastModifiedBy>
  <cp:revision>5</cp:revision>
  <dcterms:created xsi:type="dcterms:W3CDTF">2025-08-27T19:25:51Z</dcterms:created>
  <dcterms:modified xsi:type="dcterms:W3CDTF">2026-09-02T06:29:49Z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7dc2ecdafed54aa19b2d91a76a093f23_23</vt:lpwstr>
  </property>
  <property fmtid="{D5CDD505-2E9C-101B-9397-08002B2CF9AE}" pid="3" name="KSOProductBuildVer">
    <vt:lpwstr>1033-12.2.0.21931</vt:lpwstr>
  </property>
</Properties>
</file>